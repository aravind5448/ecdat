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1pPr>
    <a:lvl2pPr marL="4572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5pPr>
    <a:lvl6pPr marL="22860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6pPr>
    <a:lvl7pPr marL="27432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7pPr>
    <a:lvl8pPr marL="32004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8pPr>
    <a:lvl9pPr marL="36576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59" d="100"/>
          <a:sy n="59" d="100"/>
        </p:scale>
        <p:origin x="964" y="76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4188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91316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C4D5ADD5-2BBC-4A94-8F86-D9013941F742}" type="datetimeFigureOut">
              <a:rPr lang="en-US"/>
              <a:t>8/31/2026</a:t>
            </a:fld>
            <a:endParaRPr lang="en-US"/>
          </a:p>
        </p:txBody>
      </p:sp>
      <p:sp>
        <p:nvSpPr>
          <p:cNvPr id="160551688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201582458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2194717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7376473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ＭＳ Ｐゴシック"/>
      </a:defRPr>
    </a:lvl1pPr>
    <a:lvl2pPr marL="4572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5pPr>
    <a:lvl6pPr marL="22860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7611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7439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941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604781-2D7C-1C1C-A9AD-AD41C904AF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135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629791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2098742064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597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4512113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162498924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363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2676721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692803978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4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2702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68664057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598080908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5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8408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8142972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214915271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6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EDDB6F-E41B-BBBB-F4B8-0085C6D3F8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640862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8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2481695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9777045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60792E3-D524-454C-8AFD-A91972900BCB}" type="datetime1">
              <a:rPr lang="en-US"/>
              <a:t>8/31/2026</a:t>
            </a:fld>
            <a:endParaRPr lang="en-US"/>
          </a:p>
        </p:txBody>
      </p:sp>
      <p:sp>
        <p:nvSpPr>
          <p:cNvPr id="2371770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7890610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0587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3846291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284126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08B7524-32A2-4C20-A58C-BC3BAA1042FC}" type="datetime1">
              <a:rPr lang="en-US"/>
              <a:t>8/31/2026</a:t>
            </a:fld>
            <a:endParaRPr lang="en-US"/>
          </a:p>
        </p:txBody>
      </p:sp>
      <p:sp>
        <p:nvSpPr>
          <p:cNvPr id="16788720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9921175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592945" name="Title 1"/>
          <p:cNvSpPr>
            <a:spLocks noGrp="1"/>
          </p:cNvSpPr>
          <p:nvPr>
            <p:ph type="title"/>
          </p:nvPr>
        </p:nvSpPr>
        <p:spPr bwMode="auto"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795472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923825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E994447-D6B2-43BB-A877-57F1A267B999}" type="datetime1">
              <a:rPr lang="en-US"/>
              <a:t>8/31/2026</a:t>
            </a:fld>
            <a:endParaRPr lang="en-US"/>
          </a:p>
        </p:txBody>
      </p:sp>
      <p:sp>
        <p:nvSpPr>
          <p:cNvPr id="4470637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235004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0691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1234904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567800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332047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8920E16-BD35-483C-AA6B-346FC7E46DEA}" type="datetime1">
              <a:rPr lang="en-US"/>
              <a:t>8/31/2026</a:t>
            </a:fld>
            <a:endParaRPr lang="en-US"/>
          </a:p>
        </p:txBody>
      </p:sp>
      <p:sp>
        <p:nvSpPr>
          <p:cNvPr id="15772752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153736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8719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975149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71882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4290459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4407894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024420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EAC6F8-5103-4FC0-A69E-5C6AE6469DA8}" type="datetime1">
              <a:rPr lang="en-US"/>
              <a:t>8/31/2026</a:t>
            </a:fld>
            <a:endParaRPr lang="en-US"/>
          </a:p>
        </p:txBody>
      </p:sp>
      <p:sp>
        <p:nvSpPr>
          <p:cNvPr id="1850539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4810515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6884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63220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60C6921-0627-4C8F-83D5-0CF936D2FFDD}" type="datetime1">
              <a:rPr lang="en-US"/>
              <a:t>8/31/2026</a:t>
            </a:fld>
            <a:endParaRPr lang="en-US"/>
          </a:p>
        </p:txBody>
      </p:sp>
      <p:sp>
        <p:nvSpPr>
          <p:cNvPr id="12020135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20379323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4927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F08AD7-8103-40F8-983C-E2BA6BB9CBE0}" type="datetime1">
              <a:rPr lang="en-US"/>
              <a:t>8/31/2026</a:t>
            </a:fld>
            <a:endParaRPr lang="en-US"/>
          </a:p>
        </p:txBody>
      </p:sp>
      <p:sp>
        <p:nvSpPr>
          <p:cNvPr id="11228747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6996776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606206" name="Title 1"/>
          <p:cNvSpPr>
            <a:spLocks noGrp="1"/>
          </p:cNvSpPr>
          <p:nvPr>
            <p:ph type="title"/>
          </p:nvPr>
        </p:nvSpPr>
        <p:spPr bwMode="auto"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24806986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087004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71503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F8C06B4-9380-4A4D-AF49-A3596E17DAF5}" type="datetime1">
              <a:rPr lang="en-US"/>
              <a:t>8/31/2026</a:t>
            </a:fld>
            <a:endParaRPr lang="en-US"/>
          </a:p>
        </p:txBody>
      </p:sp>
      <p:sp>
        <p:nvSpPr>
          <p:cNvPr id="3082224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9058691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819725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500228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en-US"/>
          </a:p>
        </p:txBody>
      </p:sp>
      <p:sp>
        <p:nvSpPr>
          <p:cNvPr id="5231985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60643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F7FDEF1-C582-4E22-9E77-D68326471F28}" type="datetime1">
              <a:rPr lang="en-US"/>
              <a:t>8/31/2026</a:t>
            </a:fld>
            <a:endParaRPr lang="en-US"/>
          </a:p>
        </p:txBody>
      </p:sp>
      <p:sp>
        <p:nvSpPr>
          <p:cNvPr id="12134454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298484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8933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1100329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41946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3C3A68-6922-42D3-8905-ECC2D82A3469}" type="datetime1">
              <a:rPr lang="en-US"/>
              <a:t>8/31/2026</a:t>
            </a:fld>
            <a:endParaRPr lang="en-US"/>
          </a:p>
        </p:txBody>
      </p:sp>
      <p:sp>
        <p:nvSpPr>
          <p:cNvPr id="1173444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396417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99271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41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5121617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285939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B69E9F4-7604-4950-A8B2-8ACDEDB1506E}" type="datetime1">
              <a:rPr lang="en-US"/>
              <a:t>8/31/2026</a:t>
            </a:fld>
            <a:endParaRPr lang="en-US"/>
          </a:p>
        </p:txBody>
      </p:sp>
      <p:sp>
        <p:nvSpPr>
          <p:cNvPr id="2790947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6057492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400785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98323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6268033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780A9602-A9A9-453F-AEF1-37B5837E02CD}" type="datetime1">
              <a:rPr lang="en-US"/>
              <a:t>8/31/2026</a:t>
            </a:fld>
            <a:endParaRPr lang="en-US"/>
          </a:p>
        </p:txBody>
      </p:sp>
      <p:sp>
        <p:nvSpPr>
          <p:cNvPr id="81383338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7929339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2pPr>
      <a:lvl3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3pPr>
      <a:lvl4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4pPr>
      <a:lvl5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5pPr>
      <a:lvl6pPr marL="4572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6pPr>
      <a:lvl7pPr marL="9144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7pPr>
      <a:lvl8pPr marL="13716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8pPr>
      <a:lvl9pPr marL="18288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9pPr>
    </p:titleStyle>
    <p:bodyStyle>
      <a:lvl1pPr marL="342900" indent="-342900" algn="l" defTabSz="457200" rtl="0">
        <a:spcBef>
          <a:spcPts val="0"/>
        </a:spcBef>
        <a:spcAft>
          <a:spcPts val="0"/>
        </a:spcAft>
        <a:buFont typeface="Arial"/>
        <a:buChar char="•"/>
        <a:defRPr sz="32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marL="742950" indent="-285750" algn="l" defTabSz="457200" rtl="0">
        <a:spcBef>
          <a:spcPts val="0"/>
        </a:spcBef>
        <a:spcAft>
          <a:spcPts val="0"/>
        </a:spcAft>
        <a:buFont typeface="Arial"/>
        <a:buChar char="–"/>
        <a:defRPr sz="2800">
          <a:solidFill>
            <a:schemeClr val="tx1"/>
          </a:solidFill>
          <a:latin typeface="TradeGothic"/>
          <a:ea typeface="ＭＳ Ｐゴシック"/>
          <a:cs typeface="+mn-cs"/>
        </a:defRPr>
      </a:lvl2pPr>
      <a:lvl3pPr marL="1143000" indent="-228600" algn="l" defTabSz="457200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TradeGothic"/>
          <a:ea typeface="ＭＳ Ｐゴシック"/>
          <a:cs typeface="+mn-cs"/>
        </a:defRPr>
      </a:lvl3pPr>
      <a:lvl4pPr marL="1600200" indent="-228600" algn="l" defTabSz="457200" rtl="0">
        <a:spcBef>
          <a:spcPts val="0"/>
        </a:spcBef>
        <a:spcAft>
          <a:spcPts val="0"/>
        </a:spcAft>
        <a:buFont typeface="Arial"/>
        <a:buChar char="–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4pPr>
      <a:lvl5pPr marL="2057400" indent="-228600" algn="l" defTabSz="457200" rtl="0">
        <a:spcBef>
          <a:spcPts val="0"/>
        </a:spcBef>
        <a:spcAft>
          <a:spcPts val="0"/>
        </a:spcAft>
        <a:buFont typeface="Arial"/>
        <a:buChar char="»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38457964" name="Rectangle 2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644487052" name="Picture 4"/>
          <p:cNvPicPr>
            <a:picLocks noChangeAspect="1"/>
          </p:cNvPicPr>
          <p:nvPr/>
        </p:nvPicPr>
        <p:blipFill rotWithShape="1">
          <a:blip r:embed="rId3"/>
          <a:srcRect l="0" t="0" r="59916" b="0"/>
          <a:stretch/>
        </p:blipFill>
        <p:spPr bwMode="auto">
          <a:xfrm>
            <a:off x="6890609" y="2076449"/>
            <a:ext cx="3203509" cy="3426237"/>
          </a:xfrm>
          <a:prstGeom prst="rect">
            <a:avLst/>
          </a:prstGeom>
        </p:spPr>
      </p:pic>
      <p:sp>
        <p:nvSpPr>
          <p:cNvPr id="420248743" name="Subtitle 3"/>
          <p:cNvSpPr>
            <a:spLocks noGrp="1"/>
          </p:cNvSpPr>
          <p:nvPr>
            <p:ph type="subTitle" idx="1"/>
          </p:nvPr>
        </p:nvSpPr>
        <p:spPr bwMode="auto">
          <a:xfrm>
            <a:off x="1245686" y="648614"/>
            <a:ext cx="8534400" cy="1752599"/>
          </a:xfrm>
        </p:spPr>
        <p:txBody>
          <a:bodyPr/>
          <a:lstStyle/>
          <a:p>
            <a:pPr>
              <a:defRPr/>
            </a:pPr>
            <a:endParaRPr lang="en-US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IN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19292236" name="Title 7"/>
          <p:cNvSpPr>
            <a:spLocks noGrp="1"/>
          </p:cNvSpPr>
          <p:nvPr>
            <p:ph type="ctrTitle"/>
          </p:nvPr>
        </p:nvSpPr>
        <p:spPr bwMode="auto">
          <a:xfrm>
            <a:off x="331286" y="-526757"/>
            <a:ext cx="10363200" cy="2076450"/>
          </a:xfrm>
        </p:spPr>
        <p:txBody>
          <a:bodyPr/>
          <a:lstStyle/>
          <a:p>
            <a:pPr>
              <a:defRPr/>
            </a:pPr>
            <a:br>
              <a:rPr lang="en-US" sz="4000" b="1">
                <a:solidFill>
                  <a:schemeClr val="tx2"/>
                </a:solidFill>
                <a:latin typeface="Garamond"/>
              </a:rPr>
            </a:br>
            <a:r>
              <a:rPr lang="en-US" sz="3200" b="1">
                <a:solidFill>
                  <a:schemeClr val="tx2"/>
                </a:solidFill>
                <a:latin typeface="Garamond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/>
            </a:endParaRPr>
          </a:p>
        </p:txBody>
      </p:sp>
      <p:sp>
        <p:nvSpPr>
          <p:cNvPr id="310606635" name="TextBox 9"/>
          <p:cNvSpPr txBox="1"/>
          <p:nvPr/>
        </p:nvSpPr>
        <p:spPr bwMode="auto">
          <a:xfrm flipH="0" flipV="0">
            <a:off x="331285" y="1881187"/>
            <a:ext cx="7103700" cy="4023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US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>
                <a:latin typeface="+mj-lt"/>
                <a:cs typeface="Arial"/>
              </a:rPr>
              <a:t>Problem Statement ID –</a:t>
            </a:r>
            <a:r>
              <a:rPr lang="en-US" sz="2000" b="1">
                <a:solidFill>
                  <a:srgbClr val="00B050"/>
                </a:solidFill>
                <a:latin typeface="Calibri"/>
                <a:cs typeface="Arial"/>
              </a:rPr>
              <a:t> </a:t>
            </a:r>
            <a:r>
              <a:rPr lang="en-US" sz="2000" b="1">
                <a:solidFill>
                  <a:srgbClr val="428F59"/>
                </a:solidFill>
                <a:latin typeface="Calibri"/>
                <a:cs typeface="Arial"/>
              </a:rPr>
              <a:t>SIH26164</a:t>
            </a:r>
            <a:endParaRPr sz="200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>
                <a:latin typeface="+mj-lt"/>
                <a:cs typeface="Arial"/>
              </a:rPr>
              <a:t>Problem Statement Title - </a:t>
            </a:r>
            <a:r>
              <a:rPr lang="en-US" sz="2000" b="1" i="0" u="none" strike="noStrike" cap="none" spc="0">
                <a:solidFill>
                  <a:srgbClr val="428F59"/>
                </a:solidFill>
                <a:latin typeface="Calibri"/>
                <a:ea typeface="Calibri"/>
                <a:cs typeface="Calibri"/>
              </a:rPr>
              <a:t>Enterprise Cryptographic Discovery &amp; Analysis Tool (ECDAT)</a:t>
            </a:r>
            <a:endParaRPr sz="2000">
              <a:solidFill>
                <a:srgbClr val="428F59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>
                <a:latin typeface="+mj-lt"/>
                <a:cs typeface="Arial"/>
              </a:rPr>
              <a:t>Theme - </a:t>
            </a:r>
            <a:r>
              <a:rPr lang="en-US" sz="2000" b="1" i="0" u="none" strike="noStrike" cap="none" spc="0">
                <a:solidFill>
                  <a:srgbClr val="428F59"/>
                </a:solidFill>
                <a:latin typeface="Calibri"/>
                <a:ea typeface="Calibri"/>
                <a:cs typeface="Calibri"/>
              </a:rPr>
              <a:t>Blockchain &amp; Cybersecurity</a:t>
            </a:r>
            <a:endParaRPr sz="200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>
                <a:latin typeface="+mj-lt"/>
                <a:cs typeface="Arial"/>
              </a:rPr>
              <a:t>PS Category - </a:t>
            </a:r>
            <a:r>
              <a:rPr lang="en-US" sz="2000" b="1">
                <a:solidFill>
                  <a:srgbClr val="428F59"/>
                </a:solidFill>
                <a:latin typeface="Calibri"/>
                <a:cs typeface="Arial"/>
              </a:rPr>
              <a:t>Software</a:t>
            </a:r>
            <a:endParaRPr lang="en-US" sz="2000" b="1">
              <a:solidFill>
                <a:srgbClr val="428F59"/>
              </a:solidFill>
              <a:latin typeface="Calibri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Arial"/>
              </a:rPr>
              <a:t>Team Name - </a:t>
            </a:r>
            <a:r>
              <a:rPr lang="en-US" sz="2000" b="1">
                <a:solidFill>
                  <a:srgbClr val="428F59"/>
                </a:solidFill>
                <a:latin typeface="Calibri"/>
                <a:cs typeface="Arial"/>
              </a:rPr>
              <a:t>Asterisks</a:t>
            </a:r>
            <a:endParaRPr lang="en-US" sz="2000" b="1">
              <a:solidFill>
                <a:srgbClr val="428F59"/>
              </a:solidFill>
              <a:latin typeface="Calibri"/>
              <a:cs typeface="Arial"/>
            </a:endParaRPr>
          </a:p>
        </p:txBody>
      </p:sp>
      <p:pic>
        <p:nvPicPr>
          <p:cNvPr id="1749298569" name="Picture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626592" y="80825"/>
            <a:ext cx="2234122" cy="1388745"/>
          </a:xfrm>
          <a:prstGeom prst="rect">
            <a:avLst/>
          </a:prstGeom>
        </p:spPr>
      </p:pic>
      <p:sp>
        <p:nvSpPr>
          <p:cNvPr id="439258182" name="Freeform: Shape 2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5656779" y="851520"/>
            <a:ext cx="4638604" cy="5154966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 fill="norm" stroke="1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push dir="u"/>
      </p:transition>
    </mc:Choice>
    <mc:Fallback>
      <p:transition spd="slow" advClick="1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68852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751437" y="0"/>
            <a:ext cx="8096249" cy="968865"/>
          </a:xfrm>
        </p:spPr>
        <p:txBody>
          <a:bodyPr/>
          <a:lstStyle/>
          <a:p>
            <a:pPr>
              <a:defRPr/>
            </a:pPr>
            <a:r>
              <a:rPr lang="en-US" sz="3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ECDAT </a:t>
            </a:r>
            <a:br>
              <a:rPr lang="en-US" sz="3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US" sz="2200" b="1" i="0" u="none" strike="noStrike" cap="none" spc="0">
                <a:solidFill>
                  <a:srgbClr val="428F59"/>
                </a:solidFill>
                <a:latin typeface="Times New Roman"/>
                <a:ea typeface="Times New Roman"/>
                <a:cs typeface="Times New Roman"/>
              </a:rPr>
              <a:t>(Automated CBOM Discovery &amp; NIST Post-Quantum Transition)</a:t>
            </a:r>
            <a:endParaRPr lang="en-US" sz="3600" b="1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257393681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165599" y="6425409"/>
            <a:ext cx="3860799" cy="365124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6214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787881394" name="Oval 1" descr="Your startup LOGO"/>
          <p:cNvSpPr/>
          <p:nvPr/>
        </p:nvSpPr>
        <p:spPr bwMode="auto">
          <a:xfrm>
            <a:off x="141514" y="161532"/>
            <a:ext cx="155531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/>
              <a:t>Team</a:t>
            </a:r>
            <a:endParaRPr lang="en-IN"/>
          </a:p>
          <a:p>
            <a:pPr algn="ctr">
              <a:defRPr/>
            </a:pPr>
            <a:r>
              <a:rPr lang="en-US"/>
              <a:t>Asterisks</a:t>
            </a:r>
            <a:endParaRPr lang="en-US"/>
          </a:p>
        </p:txBody>
      </p:sp>
      <p:pic>
        <p:nvPicPr>
          <p:cNvPr id="777742784" name="Picture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626591" y="0"/>
            <a:ext cx="2234121" cy="968865"/>
          </a:xfrm>
          <a:prstGeom prst="rect">
            <a:avLst/>
          </a:prstGeom>
        </p:spPr>
      </p:pic>
      <p:sp>
        <p:nvSpPr>
          <p:cNvPr id="1029302618" name="Content Placeholder 12"/>
          <p:cNvSpPr>
            <a:spLocks noGrp="1"/>
          </p:cNvSpPr>
          <p:nvPr>
            <p:ph sz="half" idx="2"/>
          </p:nvPr>
        </p:nvSpPr>
        <p:spPr bwMode="auto">
          <a:xfrm flipH="0" flipV="0">
            <a:off x="359568" y="1166812"/>
            <a:ext cx="7416799" cy="1702593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EXISTING PROBLEM</a:t>
            </a:r>
            <a:endParaRPr sz="1400"/>
          </a:p>
          <a:p>
            <a:pPr>
              <a:defRPr/>
            </a:pPr>
            <a:r>
              <a:rPr sz="1200" b="1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HNDL Threat</a:t>
            </a:r>
            <a:r>
              <a:rPr sz="1200" b="0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: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Attackers steal encrypted data today to decrypt via future quantum systems (Harvest Now, Decrypt Later)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Zero Crypto Visibility</a:t>
            </a:r>
            <a:r>
              <a:rPr sz="1200" b="0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: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No unified inventory of classical algorithms across source code, certificates, and reverse proxies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Blind SCA/SAST Tools</a:t>
            </a:r>
            <a:r>
              <a:rPr sz="1200" b="0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: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Traditional scanners only check package versions, missing in-tree crypto calls and hardcoded keys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lang="en-IN" sz="1400"/>
          </a:p>
        </p:txBody>
      </p:sp>
      <p:sp>
        <p:nvSpPr>
          <p:cNvPr id="1413022725" name="Content Placeholder 12"/>
          <p:cNvSpPr>
            <a:spLocks noGrp="1"/>
          </p:cNvSpPr>
          <p:nvPr/>
        </p:nvSpPr>
        <p:spPr bwMode="auto">
          <a:xfrm flipH="0" flipV="0">
            <a:off x="359568" y="2774156"/>
            <a:ext cx="7333087" cy="1940718"/>
          </a:xfrm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marL="342900" indent="-342900" algn="l" defTabSz="457200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400">
                <a:solidFill>
                  <a:schemeClr val="tx1"/>
                </a:solidFill>
                <a:latin typeface="TradeGothic"/>
                <a:ea typeface="ＭＳ Ｐゴシック"/>
                <a:cs typeface="ＭＳ Ｐゴシック"/>
              </a:defRPr>
            </a:lvl1pPr>
            <a:lvl2pPr marL="742950" indent="-285750" algn="l" defTabSz="457200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2000">
                <a:solidFill>
                  <a:schemeClr val="tx1"/>
                </a:solidFill>
                <a:latin typeface="TradeGothic"/>
                <a:ea typeface="ＭＳ Ｐゴシック"/>
                <a:cs typeface="+mn-cs"/>
              </a:defRPr>
            </a:lvl2pPr>
            <a:lvl3pPr marL="1143000" indent="-228600" algn="l" defTabSz="457200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800">
                <a:solidFill>
                  <a:schemeClr val="tx1"/>
                </a:solidFill>
                <a:latin typeface="TradeGothic"/>
                <a:ea typeface="ＭＳ Ｐゴシック"/>
                <a:cs typeface="+mn-cs"/>
              </a:defRPr>
            </a:lvl3pPr>
            <a:lvl4pPr marL="1600200" indent="-228600" algn="l" defTabSz="457200" rtl="0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1600">
                <a:solidFill>
                  <a:schemeClr val="tx1"/>
                </a:solidFill>
                <a:latin typeface="TradeGothic"/>
                <a:ea typeface="ＭＳ Ｐゴシック"/>
                <a:cs typeface="+mn-cs"/>
              </a:defRPr>
            </a:lvl4pPr>
            <a:lvl5pPr marL="2057400" indent="-228600" algn="l" defTabSz="457200" rtl="0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1600">
                <a:solidFill>
                  <a:schemeClr val="tx1"/>
                </a:solidFill>
                <a:latin typeface="TradeGothic"/>
                <a:ea typeface="ＭＳ Ｐゴシック"/>
                <a:cs typeface="+mn-cs"/>
              </a:defRPr>
            </a:lvl5pPr>
            <a:lvl6pPr marL="2514599" indent="-228600" algn="l" defTabSz="457200" rtl="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PROPOSED SOLUTION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Full-Stack AST Discovery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Parses multi-language code (Python, Java), X.509 certificates, and TLS configs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CycloneDX 1.6 CBOM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Generates standardized Cryptographic Bills of Materials with NIST quantum security levels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Mosca-Weighted Scoring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Quantifies real-world migration urgency using Mosca's Theorem (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X + Y &gt; Z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 and shelf-life metrics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Migration Passports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Delivers FIPS 203/204/205 hybrid-cipher remediation blueprints (AST-mapped, developer-reviewed) for merge-ready adoption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</p:txBody>
      </p:sp>
      <p:sp>
        <p:nvSpPr>
          <p:cNvPr id="1095628255" name=""/>
          <p:cNvSpPr/>
          <p:nvPr/>
        </p:nvSpPr>
        <p:spPr bwMode="auto">
          <a:xfrm flipH="0" flipV="0">
            <a:off x="359568" y="4714875"/>
            <a:ext cx="7667551" cy="1567031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UVP (UNIQUE VALUE PROPOSITION)</a:t>
            </a:r>
            <a:endParaRPr/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1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CycloneDX 1.6 Native</a:t>
            </a:r>
            <a:r>
              <a:rPr sz="1200" b="0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: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Standard-compliant CBOMs instead of proprietary JSON formats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1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Shelf-Life Prioritization</a:t>
            </a:r>
            <a:r>
              <a:rPr sz="1200" b="0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: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Distinguishes ephemeral session tokens from 20-year archived records to eliminate alert fatigue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1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Hybrid Migration Blueprints: Produces developer-reviewed dual-KEM (X25519 + ML-KEM-768) remediation guidance, not unattended code rewriting. </a:t>
            </a:r>
            <a:endParaRPr/>
          </a:p>
          <a:p>
            <a:pPr marL="217793" indent="-217793">
              <a:lnSpc>
                <a:spcPct val="114999"/>
              </a:lnSpc>
              <a:buFont typeface="Arial"/>
              <a:buChar char="•"/>
              <a:defRPr/>
            </a:pPr>
            <a:r>
              <a:rPr sz="12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  <a:r>
              <a:rPr sz="1200" b="1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00% Air-Gapped &amp; CI/CD Native</a:t>
            </a:r>
            <a:r>
              <a:rPr sz="1200" b="0" i="0" u="none">
                <a:solidFill>
                  <a:srgbClr val="428F59"/>
                </a:solidFill>
                <a:latin typeface="Arial"/>
                <a:ea typeface="Arial"/>
                <a:cs typeface="Arial"/>
              </a:rPr>
              <a:t>: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Runs locally with zero cloud API dependency or data-exfiltration risk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</p:txBody>
      </p:sp>
      <p:pic>
        <p:nvPicPr>
          <p:cNvPr id="18613819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259428" y="944108"/>
            <a:ext cx="3621258" cy="5532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push dir="u"/>
      </p:transition>
    </mc:Choice>
    <mc:Fallback>
      <p:transition spd="slow" advClick="1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4741272" name=""/>
          <p:cNvPicPr>
            <a:picLocks noChangeAspect="1"/>
          </p:cNvPicPr>
          <p:nvPr/>
        </p:nvPicPr>
        <p:blipFill rotWithShape="1">
          <a:blip r:embed="rId3"/>
          <a:srcRect l="2451" t="15039" r="2430" b="0"/>
          <a:stretch/>
        </p:blipFill>
        <p:spPr bwMode="auto">
          <a:xfrm flipH="0" flipV="0">
            <a:off x="5625" y="1122378"/>
            <a:ext cx="12128061" cy="5416535"/>
          </a:xfrm>
          <a:prstGeom prst="rect">
            <a:avLst/>
          </a:prstGeom>
        </p:spPr>
      </p:pic>
      <p:sp>
        <p:nvSpPr>
          <p:cNvPr id="17964064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396212701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348836749" name="Picture 1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798220" y="-47623"/>
            <a:ext cx="2234121" cy="1071264"/>
          </a:xfrm>
          <a:prstGeom prst="rect">
            <a:avLst/>
          </a:prstGeom>
        </p:spPr>
      </p:pic>
      <p:sp>
        <p:nvSpPr>
          <p:cNvPr id="877251199" name=""/>
          <p:cNvSpPr txBox="1"/>
          <p:nvPr/>
        </p:nvSpPr>
        <p:spPr bwMode="auto">
          <a:xfrm rot="0" flipH="0" flipV="0">
            <a:off x="0" y="333374"/>
            <a:ext cx="1219487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latin typeface="Times New Roman"/>
                <a:ea typeface="Times New Roman"/>
                <a:cs typeface="Times New Roman"/>
              </a:rPr>
              <a:t>TECHNICAL WORKFLOW &amp; TECH STACK</a:t>
            </a:r>
            <a:endParaRPr sz="2800" b="1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push dir="u"/>
      </p:transition>
    </mc:Choice>
    <mc:Fallback>
      <p:transition spd="slow" advClick="1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975428" name="Google Shape;171;p28"/>
          <p:cNvSpPr/>
          <p:nvPr/>
        </p:nvSpPr>
        <p:spPr bwMode="auto">
          <a:xfrm flipH="0" flipV="0">
            <a:off x="179811" y="857250"/>
            <a:ext cx="5774530" cy="3012279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>
              <a:defRPr/>
            </a:pPr>
            <a:r>
              <a:rPr lang="en-US" sz="16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FEASIBILITY</a:t>
            </a:r>
            <a:endParaRPr sz="1400" b="1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lang="en-US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Proven AST parsing and ASN.1 certificate decoding provide deterministic, zero-hallucination crypto discovery without runtime overhead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1400"/>
          </a:p>
          <a:p>
            <a:pPr marL="217792" indent="-217792">
              <a:buFont typeface="Arial"/>
              <a:buChar char="•"/>
              <a:defRPr/>
            </a:pPr>
            <a:r>
              <a:rPr lang="en-US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Compliance: Built against NIST SP 800-57 key-size minimums, FIPS 203/204/205, NIST IR 8547 transition timelines, and the CycloneDX 1.6 CBOM standard. </a:t>
            </a:r>
            <a:endParaRPr sz="1400"/>
          </a:p>
          <a:p>
            <a:pPr marL="217792" indent="-217792">
              <a:buFont typeface="Arial"/>
              <a:buChar char="•"/>
              <a:defRPr/>
            </a:pPr>
            <a:r>
              <a:rPr lang="en-US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Operational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Standalone, lightweight CLI binary integrates directly into developer workstations and existing CI/CD pipelines in 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&lt;5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minutes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1400"/>
          </a:p>
          <a:p>
            <a:pPr marL="217792" indent="-217792">
              <a:buFont typeface="Arial"/>
              <a:buChar char="•"/>
              <a:defRPr/>
            </a:pPr>
            <a:r>
              <a:rPr lang="en-US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Economic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Open-core architecture eliminates per-scan software fees and proprietary cloud-analysis costs.</a:t>
            </a:r>
            <a:endParaRPr sz="14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 b="1">
              <a:latin typeface="Oswald"/>
              <a:ea typeface="Oswald"/>
              <a:cs typeface="Oswald"/>
            </a:endParaRPr>
          </a:p>
        </p:txBody>
      </p:sp>
      <p:sp>
        <p:nvSpPr>
          <p:cNvPr id="49512780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09599" y="-47623"/>
            <a:ext cx="10972800" cy="1012030"/>
          </a:xfrm>
        </p:spPr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FEASIBILITY AND VIABILITY</a:t>
            </a:r>
            <a:endParaRPr/>
          </a:p>
        </p:txBody>
      </p:sp>
      <p:sp>
        <p:nvSpPr>
          <p:cNvPr id="77025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4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247618634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pic>
        <p:nvPicPr>
          <p:cNvPr id="1065712953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895312" y="-47623"/>
            <a:ext cx="2024061" cy="1048599"/>
          </a:xfrm>
          <a:prstGeom prst="rect">
            <a:avLst/>
          </a:prstGeom>
        </p:spPr>
      </p:pic>
      <p:sp>
        <p:nvSpPr>
          <p:cNvPr id="58664317" name="Google Shape;172;p28"/>
          <p:cNvSpPr/>
          <p:nvPr/>
        </p:nvSpPr>
        <p:spPr bwMode="auto">
          <a:xfrm flipH="0" flipV="0">
            <a:off x="6095998" y="857250"/>
            <a:ext cx="5823373" cy="3012279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>
              <a:defRPr/>
            </a:pPr>
            <a:r>
              <a:rPr lang="en-US" sz="14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VIABILITY</a:t>
            </a:r>
            <a:endParaRPr sz="1200" b="1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39820" indent="-239820">
              <a:buFont typeface="Arial"/>
              <a:buChar char="•"/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Market Opportunity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BFSI, defense, healthcare, and digital governance face growing PQC-migration pressure through 2030-2035, anchored by NSA CNSA 2.0's 2033 federal deadline; enterprise cryptographic-inventory tooling is an emerging compliance category.</a:t>
            </a:r>
            <a:endParaRPr sz="1200"/>
          </a:p>
          <a:p>
            <a:pPr marL="239820" indent="-239820">
              <a:buFont typeface="Arial"/>
              <a:buChar char="•"/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Alignment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Complements CERT-In incident-reporting obligations and RBI information-security guidance; positions users ahead of future crypto-agility expectations tied to India's National Quantum Mission.</a:t>
            </a:r>
            <a:endParaRPr sz="1200"/>
          </a:p>
          <a:p>
            <a:pPr marL="239820" indent="-239820">
              <a:buFont typeface="Arial"/>
              <a:buChar char="•"/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ROI &amp; Efficiency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Targets a large cut in manual audit effort versus a typical multi-month review, with lower ongoing migration-planning cost (early estimate, to be validated during the pilot).</a:t>
            </a:r>
            <a:endParaRPr sz="1200"/>
          </a:p>
          <a:p>
            <a:pPr marL="239820" indent="-239820">
              <a:buFont typeface="Arial"/>
              <a:buChar char="•"/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Scalability: Content-hash incremental rescanning skips unchanged files instead of re-parsing a monorepository each run — measured at an 8x speedup on the prototype's own corpus; multi-worker parallelism is planned, not yet built.</a:t>
            </a:r>
            <a:endParaRPr sz="12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 b="1">
              <a:latin typeface="Oswald"/>
              <a:ea typeface="Oswald"/>
              <a:cs typeface="Oswald"/>
            </a:endParaRPr>
          </a:p>
        </p:txBody>
      </p:sp>
      <p:sp>
        <p:nvSpPr>
          <p:cNvPr id="1402916295" name="Google Shape;173;p28"/>
          <p:cNvSpPr/>
          <p:nvPr/>
        </p:nvSpPr>
        <p:spPr bwMode="auto">
          <a:xfrm flipH="0" flipV="0">
            <a:off x="179812" y="3958574"/>
            <a:ext cx="5774531" cy="2762902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 CHALLENGES &amp; MITIGATION</a:t>
            </a:r>
            <a:endParaRPr sz="1800" b="1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/>
          </a:p>
          <a:p>
            <a:pPr marL="239821" indent="-239821">
              <a:buFont typeface="Arial"/>
              <a:buChar char="•"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Risk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Dynamically loaded crypto providers, runtime reflection (e.g., Java 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Cipher.getInstance(var)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), or environment-variable-driven key configurations escaping static AST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Mitigation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Pair static AST scanning with fallback regex heuristics and configuration schema linting, with an extensible rule catalog to flag dynamic reflection instances as high-priority manual review targets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2000"/>
          </a:p>
        </p:txBody>
      </p:sp>
      <p:sp>
        <p:nvSpPr>
          <p:cNvPr id="2032035311" name="Google Shape;174;p28"/>
          <p:cNvSpPr/>
          <p:nvPr/>
        </p:nvSpPr>
        <p:spPr bwMode="auto">
          <a:xfrm flipH="0" flipV="0">
            <a:off x="6095999" y="3932124"/>
            <a:ext cx="5829134" cy="2789352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239821" indent="-239821">
              <a:buFont typeface="Arial"/>
              <a:buChar char="•"/>
              <a:defRPr/>
            </a:pPr>
            <a:endParaRPr sz="2000"/>
          </a:p>
        </p:txBody>
      </p:sp>
      <p:sp>
        <p:nvSpPr>
          <p:cNvPr id="711066800" name=""/>
          <p:cNvSpPr txBox="1"/>
          <p:nvPr/>
        </p:nvSpPr>
        <p:spPr bwMode="auto">
          <a:xfrm rot="0" flipH="0" flipV="0">
            <a:off x="6204374" y="4214812"/>
            <a:ext cx="5671694" cy="1707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BUSINESS / USER CHALLENGES &amp; MITIGATION</a:t>
            </a:r>
            <a:endParaRPr/>
          </a:p>
          <a:p>
            <a:pPr algn="l">
              <a:defRPr/>
            </a:pPr>
            <a:endParaRPr/>
          </a:p>
          <a:p>
            <a:pPr marL="239821" indent="-239821" algn="l">
              <a:buFont typeface="Arial"/>
              <a:buChar char="•"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Risk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Developer inertia and fear of breaking legacy production banking APIs during cryptographic replacement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11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39821" indent="-239821" algn="l">
              <a:buFont typeface="Arial"/>
              <a:buChar char="•"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Mitigation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Enforce </a:t>
            </a: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Hybrid Cryptography Blueprints (</a:t>
            </a: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X25519 + ML-KEM-768</a:t>
            </a: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AST-guided remediation blueprints that preserve classical fallbacks while introducing quantum resistance safely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push dir="u"/>
      </p:transition>
    </mc:Choice>
    <mc:Fallback>
      <p:transition spd="slow" advClick="1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92033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09599" y="-47623"/>
            <a:ext cx="10583492" cy="916781"/>
          </a:xfrm>
        </p:spPr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IMPACT AND BENEFITS</a:t>
            </a:r>
            <a:endParaRPr/>
          </a:p>
        </p:txBody>
      </p:sp>
      <p:sp>
        <p:nvSpPr>
          <p:cNvPr id="4559726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5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621704032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pic>
        <p:nvPicPr>
          <p:cNvPr id="2004580509" name="Pictur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816363" y="-47623"/>
            <a:ext cx="2234121" cy="988218"/>
          </a:xfrm>
          <a:prstGeom prst="rect">
            <a:avLst/>
          </a:prstGeom>
        </p:spPr>
      </p:pic>
      <p:sp>
        <p:nvSpPr>
          <p:cNvPr id="1048114854" name=""/>
          <p:cNvSpPr txBox="1"/>
          <p:nvPr/>
        </p:nvSpPr>
        <p:spPr bwMode="auto">
          <a:xfrm rot="0" flipH="0" flipV="0">
            <a:off x="6007960" y="916781"/>
            <a:ext cx="414445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1">
                <a:solidFill>
                  <a:srgbClr val="2A66B0"/>
                </a:solidFill>
              </a:rPr>
              <a:t>FEATURE COMPARISON MATRIX:</a:t>
            </a:r>
            <a:endParaRPr sz="2000" b="1">
              <a:solidFill>
                <a:srgbClr val="2A66B0"/>
              </a:solidFill>
            </a:endParaRPr>
          </a:p>
        </p:txBody>
      </p:sp>
      <p:graphicFrame>
        <p:nvGraphicFramePr>
          <p:cNvPr id="156744501" name="Table 1953256793"/>
          <p:cNvGraphicFramePr>
            <a:graphicFrameLocks xmlns:a="http://schemas.openxmlformats.org/drawingml/2006/main" noGrp="1"/>
          </p:cNvGraphicFramePr>
          <p:nvPr/>
        </p:nvGraphicFramePr>
        <p:xfrm rot="0">
          <a:off x="6007960" y="1416843"/>
          <a:ext cx="6126480" cy="39319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737360"/>
                <a:gridCol w="1691640"/>
                <a:gridCol w="1463040"/>
                <a:gridCol w="1234440"/>
              </a:tblGrid>
              <a:tr h="78638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41B2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CBOMkit</a:t>
                      </a:r>
                      <a:endParaRPr/>
                    </a:p>
                    <a:p>
                      <a:pPr algn="l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(IBM Research, OSS)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41B2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SandboxAQ</a:t>
                      </a:r>
                      <a:endParaRPr/>
                    </a:p>
                    <a:p>
                      <a:pPr algn="l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AQtive Guard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41B2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ECDAT</a:t>
                      </a:r>
                      <a:endParaRPr/>
                    </a:p>
                    <a:p>
                      <a:pPr algn="l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(proposed)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41B2E"/>
                    </a:solidFill>
                  </a:tcPr>
                </a:tc>
              </a:tr>
              <a:tr h="78638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Source-code AST</a:t>
                      </a:r>
                      <a:endParaRPr/>
                    </a:p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crypto discovery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41B2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3DD56D"/>
                          </a:solidFill>
                          <a:latin typeface="Calibri"/>
                        </a:rPr>
                        <a:t>Yes (Java, Python)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41B2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F25C78"/>
                          </a:solidFill>
                          <a:latin typeface="Calibri"/>
                        </a:rPr>
                        <a:t>No — ingests pre-built</a:t>
                      </a:r>
                      <a:endParaRPr/>
                    </a:p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F25C78"/>
                          </a:solidFill>
                          <a:latin typeface="Calibri"/>
                        </a:rPr>
                        <a:t>CBOMs only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41B2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3DD56D"/>
                          </a:solidFill>
                          <a:latin typeface="Calibri"/>
                        </a:rPr>
                        <a:t>Yes (Java, Python +</a:t>
                      </a:r>
                      <a:endParaRPr/>
                    </a:p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3DD56D"/>
                          </a:solidFill>
                          <a:latin typeface="Calibri"/>
                        </a:rPr>
                        <a:t>certs/TLS configs)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41B2E"/>
                    </a:solidFill>
                  </a:tcPr>
                </a:tc>
              </a:tr>
              <a:tr h="78638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CycloneDX 1.6</a:t>
                      </a:r>
                      <a:endParaRPr/>
                    </a:p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CBOM output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E2638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3DD56D"/>
                          </a:solidFill>
                          <a:latin typeface="Calibri"/>
                        </a:rPr>
                        <a:t>Yes — generates it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E2638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F2B033"/>
                          </a:solidFill>
                          <a:latin typeface="Calibri"/>
                        </a:rPr>
                        <a:t>Ingest-only, does not</a:t>
                      </a:r>
                      <a:endParaRPr/>
                    </a:p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F2B033"/>
                          </a:solidFill>
                          <a:latin typeface="Calibri"/>
                        </a:rPr>
                        <a:t>generate CBOMs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E2638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3DD56D"/>
                          </a:solidFill>
                          <a:latin typeface="Calibri"/>
                        </a:rPr>
                        <a:t>Yes — generates it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E2638"/>
                    </a:solidFill>
                  </a:tcPr>
                </a:tc>
              </a:tr>
              <a:tr h="78638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Business-criticality</a:t>
                      </a:r>
                      <a:endParaRPr/>
                    </a:p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scoring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41B2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F25C78"/>
                          </a:solidFill>
                          <a:latin typeface="Calibri"/>
                        </a:rPr>
                        <a:t>Not publicly documented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41B2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F2B033"/>
                          </a:solidFill>
                          <a:latin typeface="Calibri"/>
                        </a:rPr>
                        <a:t>Asset/risk analytics</a:t>
                      </a:r>
                      <a:endParaRPr/>
                    </a:p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F2B033"/>
                          </a:solidFill>
                          <a:latin typeface="Calibri"/>
                        </a:rPr>
                        <a:t>(not criticality-specific)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41B2E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Manifest-backed</a:t>
                      </a:r>
                      <a:endParaRPr/>
                    </a:p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criticality engine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41B2E"/>
                    </a:solidFill>
                  </a:tcPr>
                </a:tc>
              </a:tr>
              <a:tr h="78638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Measured migration cost</a:t>
                      </a:r>
                      <a:endParaRPr/>
                    </a:p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(speed + size)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E2638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F25C78"/>
                          </a:solidFill>
                          <a:latin typeface="Calibri"/>
                        </a:rPr>
                        <a:t>Not publicly documented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E2638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F25C78"/>
                          </a:solidFill>
                          <a:latin typeface="Calibri"/>
                        </a:rPr>
                        <a:t>Not publicly documented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E2638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Migration Passport</a:t>
                      </a:r>
                      <a:endParaRPr/>
                    </a:p>
                    <a:p>
                      <a:pPr algn="l">
                        <a:defRPr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(measured on-host)</a:t>
                      </a:r>
                      <a:endParaRPr/>
                    </a:p>
                  </a:txBody>
                  <a:tcPr marL="54864" marR="54864" marT="36576" marB="36576" anchor="ctr">
                    <a:solidFill>
                      <a:srgbClr val="1E2638"/>
                    </a:solidFill>
                  </a:tcPr>
                </a:tc>
              </a:tr>
            </a:tbl>
          </a:graphicData>
        </a:graphic>
      </p:graphicFrame>
      <p:sp>
        <p:nvSpPr>
          <p:cNvPr id="1511869318" name="TextBox 1953256794"/>
          <p:cNvSpPr txBox="1"/>
          <p:nvPr/>
        </p:nvSpPr>
        <p:spPr bwMode="auto">
          <a:xfrm>
            <a:off x="6007960" y="5394482"/>
            <a:ext cx="612586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750" i="1">
                <a:solidFill>
                  <a:srgbClr val="666666"/>
                </a:solidFill>
              </a:rPr>
              <a:t>Capabilities verified against each vendor's own public documentation (IBM Research CBOMkit blog/GitHub; docs.aqtiveguard.com) — Sept 2026. “Not publicly documented” means not claimed anywhere public, not confirmed absent.</a:t>
            </a:r>
            <a:endParaRPr/>
          </a:p>
        </p:txBody>
      </p:sp>
      <p:sp>
        <p:nvSpPr>
          <p:cNvPr id="729424865" name=""/>
          <p:cNvSpPr txBox="1"/>
          <p:nvPr/>
        </p:nvSpPr>
        <p:spPr bwMode="auto">
          <a:xfrm rot="0" flipH="0" flipV="0">
            <a:off x="144093" y="750093"/>
            <a:ext cx="5801583" cy="5577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1" i="0" u="none" strike="noStrike" cap="none" spc="0">
                <a:solidFill>
                  <a:srgbClr val="428F59"/>
                </a:solidFill>
                <a:latin typeface="Arial"/>
                <a:ea typeface="Arial"/>
                <a:cs typeface="Arial"/>
              </a:rPr>
              <a:t>IMPACTS &amp; BENEFITS</a:t>
            </a:r>
            <a:endParaRPr sz="1800"/>
          </a:p>
          <a:p>
            <a:pPr marL="239820" indent="-239820">
              <a:buFont typeface="Arial"/>
              <a:buChar char="•"/>
              <a:defRPr/>
            </a:pPr>
            <a:r>
              <a:rPr lang="en-US" sz="1400" b="1" i="0" u="none" strike="noStrike" cap="none" spc="0">
                <a:solidFill>
                  <a:srgbClr val="D65F1E"/>
                </a:solidFill>
                <a:latin typeface="Arial"/>
                <a:ea typeface="Arial"/>
                <a:cs typeface="Arial"/>
              </a:rPr>
              <a:t>Economic &amp; Financial Infrastructure Protection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	Prevents catastrophic loss of non-repudiation in long-term financial transactions, sovereign debt ledgers, and digital payment gateways.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39820" indent="-239820">
              <a:buFont typeface="Arial"/>
              <a:buChar char="•"/>
              <a:defRPr/>
            </a:pPr>
            <a:r>
              <a:rPr lang="en-US" sz="1400" b="1" i="0" u="none" strike="noStrike" cap="none" spc="0">
                <a:solidFill>
                  <a:srgbClr val="D65F1E"/>
                </a:solidFill>
                <a:latin typeface="Arial"/>
                <a:ea typeface="Arial"/>
                <a:cs typeface="Arial"/>
              </a:rPr>
              <a:t>National Security &amp; Data Sovereignty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	Mitigates Harvest Now, Decrypt Later (HNDL) attacks against citizen identity vaults (KYC/Aadhaar integrations), health registries, and defense records.</a:t>
            </a:r>
            <a:endParaRPr sz="1400"/>
          </a:p>
          <a:p>
            <a:pPr marL="239820" indent="-239820">
              <a:buFont typeface="Arial"/>
              <a:buChar char="•"/>
              <a:defRPr/>
            </a:pPr>
            <a:r>
              <a:rPr lang="en-US" sz="1400" b="1" i="0" u="none" strike="noStrike" cap="none" spc="0">
                <a:solidFill>
                  <a:srgbClr val="D65F1E"/>
                </a:solidFill>
                <a:latin typeface="Arial"/>
                <a:ea typeface="Arial"/>
                <a:cs typeface="Arial"/>
              </a:rPr>
              <a:t>Compliance &amp; Governance Transformation</a:t>
            </a: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	Automates continuous cryptographic audit trails for ISO/IEC 27001, SOC2, RBI, and DPDP Act compliance.</a:t>
            </a:r>
            <a:endParaRPr lang="en-US" sz="1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sz="1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1" i="0" u="none" strike="noStrike" cap="none" spc="0">
                <a:solidFill>
                  <a:srgbClr val="428F59"/>
                </a:solidFill>
                <a:latin typeface="Arial"/>
                <a:ea typeface="Arial"/>
                <a:cs typeface="Arial"/>
              </a:rPr>
              <a:t>HOW ECDAT OPERATES (3 SCAN MODES)</a:t>
            </a:r>
            <a:endParaRPr sz="1400"/>
          </a:p>
          <a:p>
            <a:pPr marL="217792" indent="-217792">
              <a:buFont typeface="Arial"/>
              <a:buChar char="•"/>
              <a:defRPr/>
            </a:pPr>
            <a:r>
              <a:rPr lang="en-US" sz="1400" b="1" i="0" u="none" strike="noStrike" cap="none" spc="0">
                <a:solidFill>
                  <a:srgbClr val="D65F1E"/>
                </a:solidFill>
                <a:latin typeface="Arial"/>
                <a:ea typeface="Arial"/>
                <a:cs typeface="Arial"/>
              </a:rPr>
              <a:t>Mode 1: Static Codebase &amp; AST Ingestion</a:t>
            </a:r>
            <a:r>
              <a:rPr lang="en-US" sz="1400" b="0" i="0" u="none" strike="noStrike" cap="none" spc="0">
                <a:solidFill>
                  <a:srgbClr val="D65F1E"/>
                </a:solidFill>
                <a:latin typeface="Arial"/>
                <a:ea typeface="Arial"/>
                <a:cs typeface="Arial"/>
              </a:rPr>
              <a:t>: 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	Parses raw application code (Java, Python), mapping cryptographic calls directly to file, line number, and function context.</a:t>
            </a:r>
            <a:endParaRPr sz="1400"/>
          </a:p>
          <a:p>
            <a:pPr marL="217792" indent="-217792">
              <a:buFont typeface="Arial"/>
              <a:buChar char="•"/>
              <a:defRPr/>
            </a:pPr>
            <a:r>
              <a:rPr lang="en-US" sz="1400" b="1" i="0" u="none" strike="noStrike" cap="none" spc="0">
                <a:solidFill>
                  <a:srgbClr val="D65F1E"/>
                </a:solidFill>
                <a:latin typeface="Arial"/>
                <a:ea typeface="Arial"/>
                <a:cs typeface="Arial"/>
              </a:rPr>
              <a:t>Mode 2: Infrastructure &amp; Certificate Linting</a:t>
            </a:r>
            <a:r>
              <a:rPr lang="en-US" sz="1400" b="0" i="0" u="none" strike="noStrike" cap="none" spc="0">
                <a:solidFill>
                  <a:srgbClr val="D65F1E"/>
                </a:solidFill>
                <a:latin typeface="Arial"/>
                <a:ea typeface="Arial"/>
                <a:cs typeface="Arial"/>
              </a:rPr>
              <a:t>: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	Ingests deployment assets (.pem, .crt, .nginx.conf, .yaml), identifying weak key lengths, deprecated ciphers, and upcoming certificate expirations.</a:t>
            </a:r>
            <a:endParaRPr sz="1400"/>
          </a:p>
          <a:p>
            <a:pPr marL="217792" indent="-217792">
              <a:buFont typeface="Arial"/>
              <a:buChar char="•"/>
              <a:defRPr/>
            </a:pPr>
            <a:r>
              <a:rPr lang="en-US" sz="1400" b="1" i="0" u="none" strike="noStrike" cap="none" spc="0">
                <a:solidFill>
                  <a:srgbClr val="D65F1E"/>
                </a:solidFill>
                <a:latin typeface="Arial"/>
                <a:ea typeface="Arial"/>
                <a:cs typeface="Arial"/>
              </a:rPr>
              <a:t>Mode 3: Migration Passport &amp; Measured Migration Cost: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	Emits machine-readable migration passports naming the FIPS replacement algorithm, with signing, key-establishment and certificate-size cost measured on the host.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push dir="u"/>
      </p:transition>
    </mc:Choice>
    <mc:Fallback>
      <p:transition spd="slow" advClick="1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802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RESEARCH AND REFERENCES</a:t>
            </a:r>
            <a:endParaRPr/>
          </a:p>
        </p:txBody>
      </p:sp>
      <p:sp>
        <p:nvSpPr>
          <p:cNvPr id="9828141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6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705105412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983736613" name="TextBox 1"/>
          <p:cNvSpPr txBox="1"/>
          <p:nvPr/>
        </p:nvSpPr>
        <p:spPr bwMode="auto">
          <a:xfrm>
            <a:off x="293915" y="1402466"/>
            <a:ext cx="11536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br>
              <a:rPr lang="en-US" b="0" i="0">
                <a:solidFill>
                  <a:srgbClr val="111111"/>
                </a:solidFill>
                <a:latin typeface="var(--nova-font-family-sans-serif)"/>
              </a:rPr>
            </a:br>
            <a:endParaRPr lang="en-IN"/>
          </a:p>
        </p:txBody>
      </p:sp>
      <p:pic>
        <p:nvPicPr>
          <p:cNvPr id="1313308565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98221" y="-106859"/>
            <a:ext cx="2234122" cy="1388745"/>
          </a:xfrm>
          <a:prstGeom prst="rect">
            <a:avLst/>
          </a:prstGeom>
        </p:spPr>
      </p:pic>
      <p:sp>
        <p:nvSpPr>
          <p:cNvPr id="858455844" name="Google Shape;173;p28"/>
          <p:cNvSpPr/>
          <p:nvPr/>
        </p:nvSpPr>
        <p:spPr bwMode="auto">
          <a:xfrm flipH="0" flipV="0">
            <a:off x="237699" y="1281885"/>
            <a:ext cx="11794642" cy="1635145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algn="ctr"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SOLUTIONS ALREADY EXIST vs. HOW ECDAT STANDS OUT</a:t>
            </a:r>
            <a:endParaRPr/>
          </a:p>
          <a:p>
            <a:pPr marL="239821" indent="-239821" algn="just">
              <a:buFont typeface="Arial"/>
              <a:buChar char="•"/>
              <a:defRPr/>
            </a:pPr>
            <a:r>
              <a:rPr sz="1400" b="1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Solutions</a:t>
            </a:r>
            <a:r>
              <a:rPr sz="1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Fragmented, expensive enterprise tools focused purely on network TLS sniffing or simple dependency version checking, leaving internal application code uninventoried.</a:t>
            </a:r>
            <a:endParaRPr sz="2000"/>
          </a:p>
          <a:p>
            <a:pPr marL="239821" marR="0" lvl="0" indent="-239821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sz="1400" b="1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ECDAT Breakthrough: Provides end-to-end full-stack inventory (Code + Certs + Configs), produces standards-compliant CycloneDX CBOMs, and turns each finding into a developer-reviewed hybrid migration blueprint with its cost measured, rather than a passive vulnerability log. </a:t>
            </a:r>
            <a:endParaRPr b="1">
              <a:latin typeface="Oswald"/>
              <a:ea typeface="Oswald"/>
              <a:cs typeface="Oswald"/>
            </a:endParaRPr>
          </a:p>
        </p:txBody>
      </p:sp>
      <p:sp>
        <p:nvSpPr>
          <p:cNvPr id="1148503105" name="Google Shape;174;p28"/>
          <p:cNvSpPr/>
          <p:nvPr/>
        </p:nvSpPr>
        <p:spPr bwMode="auto">
          <a:xfrm flipH="0" flipV="0">
            <a:off x="237699" y="3077518"/>
            <a:ext cx="5716643" cy="3461396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algn="ctr">
              <a:defRPr/>
            </a:pPr>
            <a:r>
              <a:rPr sz="1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&amp; REGULATORY FOUNDATIONS</a:t>
            </a:r>
            <a:endParaRPr/>
          </a:p>
          <a:p>
            <a:pPr marL="239821" indent="-239821">
              <a:buFont typeface="Arial"/>
              <a:buChar char="•"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NIST FIPS Standards (2024)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FIPS 203 (ML-KEM), FIPS 204 (ML-DSA), FIPS 205 (SLH-DSA) defining final post-quantum cryptographic standards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2000"/>
          </a:p>
          <a:p>
            <a:pPr marL="239821" indent="-239821">
              <a:buFont typeface="Arial"/>
              <a:buChar char="•"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Mosca's Theorem (2018): Grounded mathematical framework defining the urgency of cryptographic migration based on data retention (X), migration time (Y), and quantum advent (Z). </a:t>
            </a:r>
            <a:endParaRPr sz="2000"/>
          </a:p>
          <a:p>
            <a:pPr marL="239821" indent="-239821">
              <a:buFont typeface="Arial"/>
              <a:buChar char="•"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CycloneDX v1.6 Standard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OWASP specification establishing cryptographic assets, algorithms, and dependencies inside modern software supply chains.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39821" indent="-239821">
              <a:buFont typeface="Arial"/>
              <a:buChar char="•"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NSA CNSA 2.0 Advisory: Published migration timelines mandating PQC adoption for US national-security systems — the firmest public deadline enterprises now plan against.</a:t>
            </a:r>
            <a:endParaRPr sz="2000"/>
          </a:p>
        </p:txBody>
      </p:sp>
      <p:sp>
        <p:nvSpPr>
          <p:cNvPr id="1681194509" name="Google Shape;174;p28"/>
          <p:cNvSpPr/>
          <p:nvPr/>
        </p:nvSpPr>
        <p:spPr bwMode="auto">
          <a:xfrm flipH="0" flipV="0">
            <a:off x="6250199" y="3077518"/>
            <a:ext cx="5702511" cy="3461396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algn="ctr">
              <a:defRPr/>
            </a:pPr>
            <a:r>
              <a:rPr sz="1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 RESOURCES</a:t>
            </a:r>
            <a:endParaRPr/>
          </a:p>
          <a:p>
            <a:pPr algn="ctr">
              <a:defRPr/>
            </a:pPr>
            <a:endParaRPr/>
          </a:p>
          <a:p>
            <a:pPr marL="217793" indent="-217793">
              <a:buFont typeface="Arial"/>
              <a:buChar char="•"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Working Prototype &amp; Console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	Standalone interactive dashboard (ecdat-console.artifact.html), with a built-in seven-step guided walkthrough</a:t>
            </a:r>
            <a:endParaRPr sz="2000"/>
          </a:p>
          <a:p>
            <a:pPr marL="217793" indent="-217793">
              <a:buFont typeface="Arial"/>
              <a:buChar char="•"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Benchmarking &amp; Validation Targets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	Validated on nivesh-core (our own BFSI-style demo estate), django, jjwt, and paramiko</a:t>
            </a:r>
            <a:endParaRPr sz="2000"/>
          </a:p>
          <a:p>
            <a:pPr marL="217793" indent="-217793">
              <a:buFont typeface="Arial"/>
              <a:buChar char="•"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Repository &amp; Source Engine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	Core scanner, criticality engine, and CBOM pipeline scripts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sz="14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Architecture &amp; Master Documentation</a:t>
            </a: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	Complete implementation specifications and jury review briefs.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push dir="u"/>
      </p:transition>
    </mc:Choice>
    <mc:Fallback>
      <p:transition spd="slow" advClick="1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214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34818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01D30E-22E2-EB19-DEBD-4D7975D440D4}" type="slidenum">
              <a:rPr lang="en-US"/>
              <a:t>5</a:t>
            </a:fld>
            <a:endParaRPr lang="en-US"/>
          </a:p>
        </p:txBody>
      </p:sp>
      <p:pic>
        <p:nvPicPr>
          <p:cNvPr id="1195655695" name="Picture 4"/>
          <p:cNvPicPr>
            <a:picLocks noChangeAspect="1"/>
          </p:cNvPicPr>
          <p:nvPr/>
        </p:nvPicPr>
        <p:blipFill rotWithShape="1">
          <a:blip r:embed="rId3"/>
          <a:srcRect l="0" t="0" r="59916" b="0"/>
          <a:stretch/>
        </p:blipFill>
        <p:spPr bwMode="auto">
          <a:xfrm>
            <a:off x="6890608" y="2076448"/>
            <a:ext cx="3203508" cy="3426237"/>
          </a:xfrm>
          <a:prstGeom prst="rect">
            <a:avLst/>
          </a:prstGeom>
        </p:spPr>
      </p:pic>
      <p:sp>
        <p:nvSpPr>
          <p:cNvPr id="1200640911" name="Freeform: Shape 2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5656778" y="851519"/>
            <a:ext cx="4638603" cy="5154966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 fill="norm" stroke="1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601283755" name="Title 7"/>
          <p:cNvSpPr>
            <a:spLocks noGrp="1"/>
          </p:cNvSpPr>
          <p:nvPr>
            <p:ph type="ctrTitle"/>
          </p:nvPr>
        </p:nvSpPr>
        <p:spPr bwMode="auto">
          <a:xfrm>
            <a:off x="331285" y="-526756"/>
            <a:ext cx="10363199" cy="2076449"/>
          </a:xfrm>
        </p:spPr>
        <p:txBody>
          <a:bodyPr/>
          <a:lstStyle/>
          <a:p>
            <a:pPr>
              <a:defRPr/>
            </a:pPr>
            <a:br>
              <a:rPr lang="en-US" sz="4800" b="1">
                <a:solidFill>
                  <a:schemeClr val="tx2"/>
                </a:solidFill>
                <a:latin typeface="Garamond"/>
              </a:rPr>
            </a:br>
            <a:r>
              <a:rPr lang="en-US" sz="3600" b="1">
                <a:solidFill>
                  <a:schemeClr val="tx2"/>
                </a:solidFill>
                <a:latin typeface="Garamond"/>
              </a:rPr>
              <a:t>SMART INDIA HACKATHON 2026</a:t>
            </a:r>
            <a:endParaRPr lang="en-IN" sz="4800" b="1">
              <a:solidFill>
                <a:schemeClr val="tx2"/>
              </a:solidFill>
              <a:latin typeface="Garamond"/>
            </a:endParaRPr>
          </a:p>
        </p:txBody>
      </p:sp>
      <p:pic>
        <p:nvPicPr>
          <p:cNvPr id="2109776231" name="Picture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599682" y="80824"/>
            <a:ext cx="2261030" cy="1252674"/>
          </a:xfrm>
          <a:prstGeom prst="rect">
            <a:avLst/>
          </a:prstGeom>
        </p:spPr>
      </p:pic>
      <p:sp>
        <p:nvSpPr>
          <p:cNvPr id="2115477051" name=""/>
          <p:cNvSpPr txBox="1"/>
          <p:nvPr/>
        </p:nvSpPr>
        <p:spPr bwMode="auto">
          <a:xfrm rot="0" flipH="0" flipV="0">
            <a:off x="286968" y="2917031"/>
            <a:ext cx="6086253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  THANK YOU</a:t>
            </a:r>
            <a:endParaRPr sz="7200">
              <a:solidFill>
                <a:schemeClr val="tx2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>Crowdfunder, Inc.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/>
  <cp:revision>166</cp:revision>
  <dcterms:created xsi:type="dcterms:W3CDTF">2013-12-12T18:46:50Z</dcterms:created>
  <dcterms:modified xsi:type="dcterms:W3CDTF">2026-09-04T15:00:48Z</dcterms:modified>
  <cp:category/>
</cp:coreProperties>
</file>