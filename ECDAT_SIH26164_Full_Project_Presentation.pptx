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97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497D"/>
                </a:solidFill>
                <a:latin typeface="Calibri"/>
              </a:rPr>
              <a:t>Digital signature size (bytes)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RSA-2048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Signature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ML-DSA-65</c:v>
                </c:pt>
              </c:strCache>
            </c:strRef>
          </c:tx>
          <c:spPr>
            <a:solidFill>
              <a:srgbClr val="8064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Signature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3309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0"/>
        <c:axPos val="l"/>
        <c:majorGridlines>
          <c:spPr>
            <a:ln w="12700" cap="flat">
              <a:solidFill>
                <a:srgbClr val="D9E2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9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ECDAT does not stop at finding RSA or ECC. It shows what the crypto protects, when migration must start, and what the replacement will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4114800" cy="4114800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589520" y="457200"/>
            <a:ext cx="3657600" cy="4224528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046720" y="457200"/>
            <a:ext cx="3200400" cy="4334256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503920" y="457200"/>
            <a:ext cx="2743200" cy="4443984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961120" y="457200"/>
            <a:ext cx="2286000" cy="4553712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418320" y="457200"/>
            <a:ext cx="1828800" cy="4663440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875520" y="457200"/>
            <a:ext cx="1371600" cy="4773168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332720" y="457200"/>
            <a:ext cx="914400" cy="4882896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789920" y="457200"/>
            <a:ext cx="457200" cy="4992624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247120" y="457200"/>
            <a:ext cx="0" cy="5102352"/>
          </a:xfrm>
          <a:prstGeom prst="line">
            <a:avLst/>
          </a:prstGeom>
          <a:noFill/>
          <a:ln w="6985">
            <a:solidFill>
              <a:srgbClr val="315C8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961120" y="960120"/>
            <a:ext cx="1225296" cy="1225296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969264"/>
            <a:ext cx="12252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0" y="603504"/>
            <a:ext cx="1965960" cy="1965960"/>
          </a:xfrm>
          <a:prstGeom prst="arc">
            <a:avLst/>
          </a:prstGeom>
          <a:solidFill>
            <a:srgbClr val="1F497D">
              <a:alpha val="0"/>
            </a:srgbClr>
          </a:solidFill>
          <a:ln w="15240">
            <a:solidFill>
              <a:srgbClr val="9EC3E6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6583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B9D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14447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58368" y="2176272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Cryptographic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D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Analysis Tool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58368" y="331012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platform that turns cryptographic evidence into a defensible post-quantum migration plan.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5230368"/>
            <a:ext cx="5440680" cy="585216"/>
          </a:xfrm>
          <a:prstGeom prst="roundRect">
            <a:avLst>
              <a:gd name="adj" fmla="val 12500"/>
            </a:avLst>
          </a:prstGeom>
          <a:solidFill>
            <a:srgbClr val="2B5C8E"/>
          </a:solidFill>
          <a:ln w="12700">
            <a:solidFill>
              <a:srgbClr val="2B5C8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40410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  ·  NTRO  ·  Blockchain &amp; Cybersecurity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6144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D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ECDAT  |  Software Category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is everywhere. Migration visibility is not.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enterprises need an evidence-led path to post-quantum readiness—not another opaque scanner.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901952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103120"/>
            <a:ext cx="347472" cy="347472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122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542032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certificates, TLS, dependencies, containers and devices often carry cryptography that nobody has catalogued.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502152" y="1901952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103120"/>
            <a:ext cx="347472" cy="347472"/>
          </a:xfrm>
          <a:prstGeom prst="ellipse">
            <a:avLst/>
          </a:prstGeom>
          <a:solidFill>
            <a:srgbClr val="E58B36"/>
          </a:solidFill>
          <a:ln w="12700">
            <a:solidFill>
              <a:srgbClr val="E58B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1122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priority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21608" y="2542032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severity alone cannot tell a team whether the key protects test data, citizen identity, payment settlement or a 25-year archive.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437376" y="1901952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38544" y="2103120"/>
            <a:ext cx="347472" cy="347472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21122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95744" y="20848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now 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56832" y="2542032"/>
            <a:ext cx="22128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confidential records can be collected today and decrypted later when a cryptographically relevant quantum computer exists.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372600" y="1901952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73768" y="2103120"/>
            <a:ext cx="347472" cy="347472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21122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30968" y="208483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change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92056" y="2542032"/>
            <a:ext cx="1801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PQC replacement may fit the algorithm—but fail on certificate size, client support, HSMs or protocol limits.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66928" y="4233672"/>
            <a:ext cx="11045952" cy="1316736"/>
          </a:xfrm>
          <a:prstGeom prst="roundRect">
            <a:avLst>
              <a:gd name="adj" fmla="val 5556"/>
            </a:avLst>
          </a:prstGeom>
          <a:solidFill>
            <a:srgbClr val="DCE6F1"/>
          </a:solidFill>
          <a:ln w="12700">
            <a:solidFill>
              <a:srgbClr val="DCE6F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ECDAT addresses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907792" y="4425696"/>
            <a:ext cx="8183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“RSA/ECC is present” to “this service protects high-value data, is already past its migration horizon, and needs a measured hybrid-PQC pilot.”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07792" y="508406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deterministic evidence first; human review for every high-impact decision.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workflow—from discovery to a migration decision.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is designed for organisations that cannot place sensitive source code into a heavyweight external platform.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463040" y="1874520"/>
            <a:ext cx="640080" cy="640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883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7066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4088" y="3099816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authorised source, configuration, certificates and dependencies.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81528" y="2057400"/>
            <a:ext cx="201168" cy="274320"/>
          </a:xfrm>
          <a:prstGeom prst="chevron">
            <a:avLst/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874520"/>
            <a:ext cx="640080" cy="640080"/>
          </a:xfrm>
          <a:prstGeom prst="ellipse">
            <a:avLst/>
          </a:prstGeom>
          <a:solidFill>
            <a:srgbClr val="4BACC6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883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11296" y="27066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57016" y="3099816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file, line, symbol, rule and snippet as evidence.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34456" y="2057400"/>
            <a:ext cx="201168" cy="274320"/>
          </a:xfrm>
          <a:prstGeom prst="chevron">
            <a:avLst/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1874520"/>
            <a:ext cx="640080" cy="640080"/>
          </a:xfrm>
          <a:prstGeom prst="ellipse">
            <a:avLst/>
          </a:prstGeom>
          <a:solidFill>
            <a:srgbClr val="E58B36"/>
          </a:solidFill>
          <a:ln w="12700">
            <a:solidFill>
              <a:srgbClr val="E58B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1883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27066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9944" y="3099816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business criticality and Mosca threat-horizon reasoning.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87384" y="2057400"/>
            <a:ext cx="201168" cy="274320"/>
          </a:xfrm>
          <a:prstGeom prst="chevron">
            <a:avLst/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1874520"/>
            <a:ext cx="640080" cy="64008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21824" y="1883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7152" y="27066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62872" y="3099816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PQC / hybrid impacts before recommending a pilot.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709160"/>
            <a:ext cx="10972800" cy="877824"/>
          </a:xfrm>
          <a:prstGeom prst="roundRect">
            <a:avLst>
              <a:gd name="adj" fmla="val 8333"/>
            </a:avLst>
          </a:prstGeom>
          <a:solidFill>
            <a:srgbClr val="F1F6FA"/>
          </a:solidFill>
          <a:ln w="12700">
            <a:solidFill>
              <a:srgbClr val="D6E2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965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for each audience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16352" y="4919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exact evidence + remediation  |  Security lead: transparent CBOM + risk posture  |  Leadership: migration sequence + measured trade-offs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privacy-preserving platform that scales by adding connectors—not complexity.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proves the core; the product roadmap expands coverage and enterprise integration.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2084832" cy="713232"/>
          </a:xfrm>
          <a:prstGeom prst="roundRect">
            <a:avLst>
              <a:gd name="adj" fmla="val 10256"/>
            </a:avLst>
          </a:prstGeom>
          <a:solidFill>
            <a:srgbClr val="4F81BD"/>
          </a:solidFill>
          <a:ln w="12700">
            <a:solidFill>
              <a:srgbClr val="4F81B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Authorised inputs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71800" y="181051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1965960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/ ZIP · TLS config · X.509 · dependency manifests · container metadata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2843784"/>
            <a:ext cx="2084832" cy="713232"/>
          </a:xfrm>
          <a:prstGeom prst="roundRect">
            <a:avLst>
              <a:gd name="adj" fmla="val 10256"/>
            </a:avLst>
          </a:prstGeom>
          <a:solidFill>
            <a:srgbClr val="4BACC6"/>
          </a:solidFill>
          <a:ln w="12700">
            <a:solidFill>
              <a:srgbClr val="4BACC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723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Evidence 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71800" y="284378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299923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inventory → cheap triage → language-aware parsing → artefact inspection → deduplication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3877056"/>
            <a:ext cx="2084832" cy="713232"/>
          </a:xfrm>
          <a:prstGeom prst="roundRect">
            <a:avLst>
              <a:gd name="adj" fmla="val 10256"/>
            </a:avLst>
          </a:prstGeom>
          <a:solidFill>
            <a:srgbClr val="E58B36"/>
          </a:solidFill>
          <a:ln w="12700">
            <a:solidFill>
              <a:srgbClr val="E58B3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1056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Decision 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71800" y="387705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4032504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purpose classification + service manifest + Mosca horizon + explainable priority score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4910328"/>
            <a:ext cx="2084832" cy="713232"/>
          </a:xfrm>
          <a:prstGeom prst="roundRect">
            <a:avLst>
              <a:gd name="adj" fmla="val 10256"/>
            </a:avLst>
          </a:prstGeom>
          <a:solidFill>
            <a:srgbClr val="8064A2"/>
          </a:solidFill>
          <a:ln w="12700">
            <a:solidFill>
              <a:srgbClr val="8064A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138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Action layer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71800" y="491032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506577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CycloneDX 1.6 CBOM · migration passport · report / CI / ticket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9801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posture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21408" y="596188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· air-gapped capable · no source upload · secrets redacted · deterministic scanner works without an LLM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DISCOVERY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CBOM is useful only when every number can be traced back to its evidence.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combines source, configuration, certificate and dependency evidence into a portable CycloneDX 1.6 cryptographic inventory.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76072" y="1874520"/>
            <a:ext cx="2505456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347472" cy="347472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84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config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2514600"/>
            <a:ext cx="20665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Java APIs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cipher suites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Key-size constants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names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505456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2075688"/>
            <a:ext cx="347472" cy="347472"/>
          </a:xfrm>
          <a:prstGeom prst="ellipse">
            <a:avLst/>
          </a:prstGeom>
          <a:solidFill>
            <a:srgbClr val="4BACC6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084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41648" y="20574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02736" y="2514600"/>
            <a:ext cx="20665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issuer and expiry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usage and public-key size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material never stored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190488" y="1874520"/>
            <a:ext cx="2505456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2075688"/>
            <a:ext cx="347472" cy="347472"/>
          </a:xfrm>
          <a:prstGeom prst="ellipse">
            <a:avLst/>
          </a:prstGeom>
          <a:solidFill>
            <a:srgbClr val="5D9C59"/>
          </a:solidFill>
          <a:ln w="12700">
            <a:solidFill>
              <a:srgbClr val="5D9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084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48856" y="20574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9944" y="2514600"/>
            <a:ext cx="20665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crypto package role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location retained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997696" y="1874520"/>
            <a:ext cx="2505456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8864" y="2075688"/>
            <a:ext cx="347472" cy="347472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2084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56064" y="20574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CBOM export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17152" y="2514600"/>
            <a:ext cx="20665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functions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status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 and rationale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1.6 JSON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76072" y="4663440"/>
            <a:ext cx="11045952" cy="9144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9286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record example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78608" y="4901184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82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payment-api / PaymentSigner.java:84  →  Signature.getInstance("SHA256withRSA")  →  digital signature  →  rule: java-signature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78608" y="52303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LLM-generated assertion: the finding retains its deterministic source evidence.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CRITICALITY + MOSCA HORIZON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separates “how serious” from “how soon”.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RSA finding can have radically different urgency depending on the data it protects and the time needed to migrate.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031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Criticality: declared context, not filename magic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06040"/>
            <a:ext cx="4480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owner supplies a small service manifest once: path, owner, data class, exposure, retention and migration constraints.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Manifest-confirmed paths are clearly distinguished from path heuristics and unknown values.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(data classification + business function) × exposure multiplier. The full working is shown in the UI.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468112" cy="3520440"/>
          </a:xfrm>
          <a:prstGeom prst="roundRect">
            <a:avLst>
              <a:gd name="adj" fmla="val 2078"/>
            </a:avLst>
          </a:prstGeom>
          <a:solidFill>
            <a:srgbClr val="F7FAFD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Mosca: X + Y &gt; Z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64224" y="2578608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data protection lifetime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realistic migration time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organisation’s threat horizon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886200"/>
            <a:ext cx="4709160" cy="0"/>
          </a:xfrm>
          <a:prstGeom prst="line">
            <a:avLst/>
          </a:prstGeom>
          <a:noFill/>
          <a:ln w="1524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400800" y="3767328"/>
            <a:ext cx="3337560" cy="0"/>
          </a:xfrm>
          <a:prstGeom prst="line">
            <a:avLst/>
          </a:prstGeom>
          <a:noFill/>
          <a:ln w="88900">
            <a:solidFill>
              <a:srgbClr val="C0504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738360" y="3429000"/>
            <a:ext cx="0" cy="822960"/>
          </a:xfrm>
          <a:prstGeom prst="line">
            <a:avLst/>
          </a:prstGeom>
          <a:noFill/>
          <a:ln w="30480">
            <a:solidFill>
              <a:srgbClr val="5D9C59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364224" y="4133088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archive: 25 years + 4 years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57232" y="413308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D9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15 years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64224" y="46908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14 years past the line. Start migration now—despite offline exposure.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PASSPORT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consequences of PQC before asking a service owner to change.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prototype executes real native cryptographic operations using OpenSSL 4.0.1 with ML-KEM and ML-DSA available.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1847088"/>
            <a:ext cx="2816352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03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comparison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968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→ ML-DSA-65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ECDH-P384 → ML-KEM-768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3401568"/>
            <a:ext cx="22128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median / p95 latency, throughput, public-key size, signature or ciphertext size, and certificate-chain impact.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468172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is always a pilot; not automatic production migration.</a:t>
            </a:r>
            <a:endParaRPr lang="en-US" sz="113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785616" y="1901952"/>
          <a:ext cx="37490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891272" y="1901952"/>
            <a:ext cx="3639312" cy="3154680"/>
          </a:xfrm>
          <a:prstGeom prst="roundRect">
            <a:avLst>
              <a:gd name="adj" fmla="val 2319"/>
            </a:avLst>
          </a:prstGeom>
          <a:solidFill>
            <a:srgbClr val="F7FAFD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2176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finding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83880" y="2688336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06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12.9×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8183880" y="319125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ML-DSA-65 signature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56064" y="2688336"/>
            <a:ext cx="1033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58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1.4×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9656064" y="319125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signing cost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698480" y="268833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5D9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5.9×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10698480" y="3191256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faster than ECDH-P384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165592" y="41605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speed is not the blocker. Certificate and handshake size can be.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8165592" y="4599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three-certificate chain rises from 2,637 B to 16,824 B—past the ~14.6 KB TCP initial congestion window.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PROOF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turns the full method into an inspectable, offline demonstration.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shown here is generated from the committed scan results—not invented for slides.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3383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5681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04672" y="2459736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scanned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9976" y="1828800"/>
            <a:ext cx="3383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95681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3,111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26280" y="2459736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828800"/>
            <a:ext cx="3383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956816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247888" y="2459736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findings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035808"/>
            <a:ext cx="3383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6382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804672" y="3666744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quantum-vulnerable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79976" y="3035808"/>
            <a:ext cx="3383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16382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4526280" y="3666744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parsed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01584" y="3035808"/>
            <a:ext cx="3383280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163824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8247888" y="3666744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recognised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4805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DCE6F1"/>
          </a:solidFill>
          <a:ln w="12700">
            <a:solidFill>
              <a:srgbClr val="DCE6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745736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jurors can see live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971800" y="4718304"/>
            <a:ext cx="8028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→ clickable source evidence → manifest-criticality working → adjustable Mosca horizon → measurable migration passport → CycloneDX CBOM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769864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benchmark environment: Windows 11 · Python 3.12.13 · cryptography 50.0.0 · OpenSSL 4.0.1 · PQC enabled.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SAFETY AND SOVEREIGNTY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sensitive environments where the repository itself is valuable.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is a decision-support system, not an autonomous migration engine.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86384" y="1956816"/>
            <a:ext cx="411480" cy="4114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6596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26464" y="1901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by default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33088" y="1901952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upload, CDN, telemetry or external runtime dependency in the prototype.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1426464" y="2560320"/>
            <a:ext cx="9729216" cy="0"/>
          </a:xfrm>
          <a:prstGeom prst="line">
            <a:avLst/>
          </a:prstGeom>
          <a:noFill/>
          <a:ln w="8890">
            <a:solidFill>
              <a:srgbClr val="E3EAF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86384" y="2898648"/>
            <a:ext cx="411480" cy="411480"/>
          </a:xfrm>
          <a:prstGeom prst="ellipse">
            <a:avLst/>
          </a:prstGeom>
          <a:solidFill>
            <a:srgbClr val="5D9C59"/>
          </a:solidFill>
          <a:ln w="12700">
            <a:solidFill>
              <a:srgbClr val="5D9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9077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26464" y="28437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scanning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33088" y="2843784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scan only repositories, artefacts and endpoints for which they have explicit permission.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1426464" y="3502152"/>
            <a:ext cx="9729216" cy="0"/>
          </a:xfrm>
          <a:prstGeom prst="line">
            <a:avLst/>
          </a:prstGeom>
          <a:noFill/>
          <a:ln w="8890">
            <a:solidFill>
              <a:srgbClr val="E3EAF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86384" y="3840480"/>
            <a:ext cx="411480" cy="41148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84962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26464" y="37856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33088" y="3785616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are parsed as metadata; private keys are never stored or displayed. Optional AI receives only redacted snippets.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426464" y="4443984"/>
            <a:ext cx="9729216" cy="0"/>
          </a:xfrm>
          <a:prstGeom prst="line">
            <a:avLst/>
          </a:prstGeom>
          <a:noFill/>
          <a:ln w="8890">
            <a:solidFill>
              <a:srgbClr val="E3EAF1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86384" y="4782312"/>
            <a:ext cx="411480" cy="41148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79145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26464" y="47274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source of truth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33088" y="472744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evidence create findings. An LLM may explain verified evidence but never invent or silently score it.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1426464" y="5385816"/>
            <a:ext cx="9729216" cy="0"/>
          </a:xfrm>
          <a:prstGeom prst="line">
            <a:avLst/>
          </a:prstGeom>
          <a:noFill/>
          <a:ln w="8890">
            <a:solidFill>
              <a:srgbClr val="E3EAF1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49808" y="5705856"/>
            <a:ext cx="10744200" cy="402336"/>
          </a:xfrm>
          <a:prstGeom prst="roundRect">
            <a:avLst>
              <a:gd name="adj" fmla="val 18182"/>
            </a:avLst>
          </a:prstGeom>
          <a:solidFill>
            <a:srgbClr val="F6F9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5824728"/>
            <a:ext cx="10241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posture: retain input hash, scanner/ruleset version and timestamp; label unsupported or unknown cases instead of pretending certainty.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ECDAT IS DISTINCT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necessary. Context and rehearsal make it actionable.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is positioned for smaller, resource-constrained and security-sensitive organisations—not as a replacement for every enterprise platform.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67512" y="1810512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E8EFF6"/>
          </a:solidFill>
          <a:ln w="12700">
            <a:solidFill>
              <a:srgbClr val="E8EF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75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discovery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810512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1F497D"/>
          </a:solidFill>
          <a:ln w="12700">
            <a:solidFill>
              <a:srgbClr val="1F497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975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ECDAT’s decision layer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74152" y="1810512"/>
            <a:ext cx="3337560" cy="512064"/>
          </a:xfrm>
          <a:prstGeom prst="roundRect">
            <a:avLst>
              <a:gd name="adj" fmla="val 14286"/>
            </a:avLst>
          </a:prstGeom>
          <a:solidFill>
            <a:srgbClr val="E8EFF6"/>
          </a:solidFill>
          <a:ln w="12700">
            <a:solidFill>
              <a:srgbClr val="E8EF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751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2468880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877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RSA / ECC / dependencies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4370832" y="2468880"/>
            <a:ext cx="3337560" cy="576072"/>
          </a:xfrm>
          <a:prstGeom prst="rect">
            <a:avLst/>
          </a:prstGeom>
          <a:solidFill>
            <a:srgbClr val="F4F8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5877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evidence to owner-declared business criticality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8074152" y="2468880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5877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priority—not a generic CVSS-like list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667512" y="3218688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375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technical PQC exposure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4370832" y="3218688"/>
            <a:ext cx="3337560" cy="576072"/>
          </a:xfrm>
          <a:prstGeom prst="rect">
            <a:avLst/>
          </a:prstGeom>
          <a:solidFill>
            <a:srgbClr val="F4F8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3375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visible Mosca X + Y &gt; Z reasoning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8074152" y="3218688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33375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migration must start first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667512" y="3968496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an algorithm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4370832" y="3968496"/>
            <a:ext cx="3337560" cy="576072"/>
          </a:xfrm>
          <a:prstGeom prst="rect">
            <a:avLst/>
          </a:prstGeom>
          <a:solidFill>
            <a:srgbClr val="F4F8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latency, size and chain impact in a sandbox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8074152" y="3968496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feasible hybrid/PQC pilot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667512" y="4718304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837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heavy enterprise installation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4370832" y="4718304"/>
            <a:ext cx="3337560" cy="576072"/>
          </a:xfrm>
          <a:prstGeom prst="rect">
            <a:avLst/>
          </a:prstGeom>
          <a:solidFill>
            <a:srgbClr val="F4F8FC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837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local-first console with portable CBOM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8074152" y="4718304"/>
            <a:ext cx="33375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48371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constrained or air-gapped settings</a:t>
            </a:r>
            <a:endParaRPr lang="en-US" sz="1090" dirty="0"/>
          </a:p>
        </p:txBody>
      </p:sp>
      <p:sp>
        <p:nvSpPr>
          <p:cNvPr id="36" name="Text 34"/>
          <p:cNvSpPr/>
          <p:nvPr/>
        </p:nvSpPr>
        <p:spPr>
          <a:xfrm>
            <a:off x="713232" y="5760720"/>
            <a:ext cx="10927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statement: privacy-preserving cryptographic inventory + evidence-backed prioritisation + measurable migration rehearsal.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FROM PROTOTYPE TO PRODUCT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coverage and integration without compromising the evidence model.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produces an independently useful capability; no “big-bang” rewrite is required.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54480" y="1828800"/>
            <a:ext cx="640080" cy="64008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8379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Hackathon prototype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58368" y="3310128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566160"/>
            <a:ext cx="1975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Java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X.509 / dependencies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local dashboard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CBOM + Mosca + benchmark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146304" cy="256032"/>
          </a:xfrm>
          <a:prstGeom prst="chevron">
            <a:avLst/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828800"/>
            <a:ext cx="640080" cy="640080"/>
          </a:xfrm>
          <a:prstGeom prst="ellipse">
            <a:avLst/>
          </a:prstGeom>
          <a:solidFill>
            <a:srgbClr val="4BACC6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379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Pilot deployment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3474720" y="3310128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566160"/>
            <a:ext cx="1975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CI connector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scans + history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Service-manifest onboarding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ticket export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16752" y="2057400"/>
            <a:ext cx="146304" cy="256032"/>
          </a:xfrm>
          <a:prstGeom prst="chevron">
            <a:avLst/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87184" y="1828800"/>
            <a:ext cx="640080" cy="640080"/>
          </a:xfrm>
          <a:prstGeom prst="ellipse">
            <a:avLst/>
          </a:prstGeom>
          <a:solidFill>
            <a:srgbClr val="E58B36"/>
          </a:solidFill>
          <a:ln w="12700">
            <a:solidFill>
              <a:srgbClr val="E58B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8379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· Enterprise coverage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91072" y="3310128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566160"/>
            <a:ext cx="1975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Go, C/C++, JavaScript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binaries, keystores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and HSM connectors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+ audit trail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833104" y="2057400"/>
            <a:ext cx="146304" cy="256032"/>
          </a:xfrm>
          <a:prstGeom prst="chevron">
            <a:avLst/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03536" y="1828800"/>
            <a:ext cx="640080" cy="64008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03536" y="18379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07424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Migration assurance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9107424" y="3310128"/>
            <a:ext cx="24323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36024" y="3566160"/>
            <a:ext cx="19751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hybrid TLS testbed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 analytics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change workflows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41248" y="5705856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through every phase: explicit authorisation · evidence preservation · transparent confidence labels · human review for high-impact decisions.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turns a vague cryptographic inventory into a practical national-readiness capability.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not simply identifying weak crypto—it is helping limited teams make the next defensible move.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5157216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075688"/>
            <a:ext cx="347472" cy="347472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084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16736" y="20574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514600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file-level evidence and relevant remediation reduce time spent finding the owner and reproducing the issue.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54496" y="1874520"/>
            <a:ext cx="5157216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5664" y="2075688"/>
            <a:ext cx="347472" cy="347472"/>
          </a:xfrm>
          <a:prstGeom prst="ellipse">
            <a:avLst/>
          </a:prstGeom>
          <a:solidFill>
            <a:srgbClr val="4BACC6"/>
          </a:solidFill>
          <a:ln w="12700">
            <a:solidFill>
              <a:srgbClr val="4BAC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084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2864" y="20574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security teams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2514600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CBOM plus confidence labels shows what is known, what is inferred and what still needs confirmation.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58368" y="3730752"/>
            <a:ext cx="5157216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931920"/>
            <a:ext cx="347472" cy="347472"/>
          </a:xfrm>
          <a:prstGeom prst="ellipse">
            <a:avLst/>
          </a:prstGeom>
          <a:solidFill>
            <a:srgbClr val="E58B36"/>
          </a:solidFill>
          <a:ln w="12700">
            <a:solidFill>
              <a:srgbClr val="E58B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9410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391363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437083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Mosca horizons and measured migration costs convert PQC preparation into a prioritised investment sequence.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254496" y="3730752"/>
            <a:ext cx="5157216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5664" y="3931920"/>
            <a:ext cx="347472" cy="347472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39410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864" y="391363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public-sector deployment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3952" y="4370832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auditable operation supports sensitive estates where foreign SaaS and source upload are unsuitable.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76656" y="5715000"/>
            <a:ext cx="10954512" cy="402336"/>
          </a:xfrm>
          <a:prstGeom prst="roundRect">
            <a:avLst>
              <a:gd name="adj" fmla="val 18182"/>
            </a:avLst>
          </a:prstGeom>
          <a:solidFill>
            <a:srgbClr val="1F497D"/>
          </a:solidFill>
          <a:ln w="12700">
            <a:solidFill>
              <a:srgbClr val="1F497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3387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 is not a promise that PQC migration is easy. It is a disciplined way to know what to do first—and why.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STANDARDS AND LIMITS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published standards; explicit about the prototype boundary.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are included so each technical claim can be challenged and verified.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572768"/>
            <a:ext cx="11100816" cy="0"/>
          </a:xfrm>
          <a:prstGeom prst="line">
            <a:avLst/>
          </a:prstGeom>
          <a:noFill/>
          <a:ln w="1016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1810512"/>
            <a:ext cx="678484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66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primary references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 — ML-KEM; FIPS 204 — ML-DSA; FIPS 205 — SLH-DSA.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IR 8547 — Transition to Post-Quantum Cryptography Standards.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800-57 — Key-management and security-strength guidance.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1.6 — Cryptographic Bill of Materials (CBOM) format.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5280 — X.509 certificates; RFC 8996 — TLS 1.0/1.1 deprecation; RFC 7465 — RC4 prohibition.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8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Michele Mosca (2015) — X + Y &gt; Z threat-horizon reasoning.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54112" y="1810512"/>
            <a:ext cx="3858768" cy="4224528"/>
          </a:xfrm>
          <a:prstGeom prst="roundRect">
            <a:avLst>
              <a:gd name="adj" fmla="val 1896"/>
            </a:avLst>
          </a:prstGeom>
          <a:solidFill>
            <a:srgbClr val="F7FAFD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2" y="2066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limits—stated plainly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28432" y="25603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Java source; TLS and X.509 artefacts—no universal binary or cloud discovery.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cannot see reflection or runtime-constructed algorithm names.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manifest is manual in the prototype; CMDB integration is a roadmap item.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is raw crypto operations on one machine; not a production TLS deployment claim.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046720" y="53949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" y="6437376"/>
            <a:ext cx="11100816" cy="0"/>
          </a:xfrm>
          <a:prstGeom prst="line">
            <a:avLst/>
          </a:prstGeom>
          <a:noFill/>
          <a:ln w="8890">
            <a:solidFill>
              <a:srgbClr val="C9D6E3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30352" y="651967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30" kern="0" dirty="0">
                <a:solidFill>
                  <a:srgbClr val="526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SIH26164  ·  ECDAT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28832" y="64922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ECDAT — PQC readiness for critical enterprises</dc:title>
  <dc:subject>Enterprise Cryptographic Discovery &amp; Analysis Tool</dc:subject>
  <dc:creator>Team ECDAT</dc:creator>
  <cp:lastModifiedBy>Team ECDAT</cp:lastModifiedBy>
  <cp:revision>1</cp:revision>
  <dcterms:created xsi:type="dcterms:W3CDTF">2026-08-31T14:36:43Z</dcterms:created>
  <dcterms:modified xsi:type="dcterms:W3CDTF">2026-08-31T14:36:43Z</dcterms:modified>
</cp:coreProperties>
</file>